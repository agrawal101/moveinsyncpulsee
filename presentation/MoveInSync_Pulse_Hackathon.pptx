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2011680" cy="384048"/>
          </a:xfrm>
          <a:prstGeom prst="roundRect">
            <a:avLst/>
          </a:prstGeom>
          <a:solidFill>
            <a:srgbClr val="166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MOVEINSYNC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MoveInSync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9CDF0"/>
                </a:solidFill>
                <a:latin typeface="Segoe UI"/>
              </a:rPr>
              <a:t>Autonomous Cross-Signal Mobility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5120640" cy="822960"/>
          </a:xfrm>
          <a:prstGeom prst="roundRect">
            <a:avLst/>
          </a:prstGeom>
          <a:solidFill>
            <a:srgbClr val="14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57200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Segoe UI"/>
              </a:rPr>
              <a:t>"Detect what dashboards miss."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68E3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2540"/>
                </a:solidFill>
                <a:latin typeface="Segoe UI"/>
              </a:rPr>
              <a:t>Mobility data is everywhere. Insight isn't.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920240" cy="38404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2540"/>
                </a:solidFill>
                <a:latin typeface="Segoe UI"/>
              </a:rPr>
              <a:t>Trips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920240"/>
            <a:ext cx="1920240" cy="38404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2540"/>
                </a:solidFill>
                <a:latin typeface="Segoe UI"/>
              </a:rPr>
              <a:t>Employees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38404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2540"/>
                </a:solidFill>
                <a:latin typeface="Segoe UI"/>
              </a:rPr>
              <a:t>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920240"/>
            <a:ext cx="1920240" cy="38404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2540"/>
                </a:solidFill>
                <a:latin typeface="Segoe UI"/>
              </a:rPr>
              <a:t>Billing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920240"/>
            <a:ext cx="1920240" cy="38404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2540"/>
                </a:solidFill>
                <a:latin typeface="Segoe UI"/>
              </a:rPr>
              <a:t>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2286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Data-rich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3081528"/>
            <a:ext cx="384048" cy="329184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926080"/>
            <a:ext cx="2286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Report-heavy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0448" y="3081528"/>
            <a:ext cx="384048" cy="329184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926080"/>
            <a:ext cx="2286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Manual correlation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8" y="3081528"/>
            <a:ext cx="384048" cy="329184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0" y="2926080"/>
            <a:ext cx="2286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Slow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10515600" cy="1280160"/>
          </a:xfrm>
          <a:prstGeom prst="round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"The anomaly may not exist in any one report. It emerges when signals are combined."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68E3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2540"/>
                </a:solidFill>
                <a:latin typeface="Segoe UI"/>
              </a:rPr>
              <a:t>Sense → Correlate → Investigate → Reason →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0116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377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68E3"/>
                </a:solidFill>
                <a:latin typeface="Segoe UI"/>
              </a:rPr>
              <a:t>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8803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deterministic
analytics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70048" y="2743200"/>
            <a:ext cx="292608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194560"/>
            <a:ext cx="20116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68E3"/>
                </a:solidFill>
                <a:latin typeface="Segoe UI"/>
              </a:rPr>
              <a:t>Correlate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803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cross-domain
anomaly engine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56048" y="2743200"/>
            <a:ext cx="292608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2194560"/>
            <a:ext cx="20116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377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68E3"/>
                </a:solidFill>
                <a:latin typeface="Segoe UI"/>
              </a:rPr>
              <a:t>Investigate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803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agent gathers
evidence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42048" y="2743200"/>
            <a:ext cx="292608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2194560"/>
            <a:ext cx="20116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377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68E3"/>
                </a:solidFill>
                <a:latin typeface="Segoe UI"/>
              </a:rPr>
              <a:t>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8803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LLM explains
evidence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28048" y="2743200"/>
            <a:ext cx="292608" cy="27432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84080" y="2194560"/>
            <a:ext cx="20116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2377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68E3"/>
                </a:solidFill>
                <a:latin typeface="Segoe UI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8803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grounded
recommendation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80560"/>
            <a:ext cx="10515600" cy="109728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177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540"/>
                </a:solidFill>
                <a:latin typeface="Segoe UI"/>
              </a:rPr>
              <a:t>Pulse continuously correlates mobility operations data, investigates the anomalies it finds, explains their business significance, and recommends the next action — every number grounded in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68E3"/>
                </a:solidFill>
                <a:latin typeface="Segoe UI"/>
              </a:rPr>
              <a:t>CROSS-SIGNAL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2540"/>
                </a:solidFill>
                <a:latin typeface="Segoe UI"/>
              </a:rPr>
              <a:t>One vendor. Signals pointing opposite 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48840"/>
            <a:ext cx="1097280" cy="384048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DC2626"/>
                </a:solidFill>
                <a:latin typeface="Segoe U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488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0F2540"/>
                </a:solidFill>
                <a:latin typeface="Segoe UI"/>
              </a:rPr>
              <a:t>risk 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540"/>
                </a:solidFill>
                <a:latin typeface="Segoe UI"/>
              </a:rPr>
              <a:t>Aarav Petrov Travel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B80"/>
                </a:solidFill>
                <a:latin typeface="Segoe UI"/>
              </a:rPr>
              <a:t>Safety divergence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2377440" cy="384048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DC2626"/>
                </a:solidFill>
                <a:latin typeface="Segoe UI"/>
              </a:rPr>
              <a:t>Safety alerts  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657600"/>
            <a:ext cx="2377440" cy="384048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9F6E"/>
                </a:solidFill>
                <a:latin typeface="Segoe UI"/>
              </a:rPr>
              <a:t>No-show  ↓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160520"/>
            <a:ext cx="2377440" cy="384048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9F6E"/>
                </a:solidFill>
                <a:latin typeface="Segoe UI"/>
              </a:rPr>
              <a:t>Delay  ↓ better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4160520"/>
            <a:ext cx="2377440" cy="384048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DC2626"/>
                </a:solidFill>
                <a:latin typeface="Segoe UI"/>
              </a:rPr>
              <a:t>vs peer median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80"/>
                </a:solidFill>
                <a:latin typeface="Segoe UI"/>
              </a:rPr>
              <a:t>Alerts 139/1k (~+55% vs June; peer 68.6) while service metrics improved.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68E3"/>
                </a:solidFill>
                <a:latin typeface="Segoe UI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5176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2540"/>
                </a:solidFill>
                <a:latin typeface="Segoe UI"/>
              </a:rPr>
              <a:t>A single vendor-health score averages these movements together — and misses that the problem is safety-specific, not general decline.</a:t>
            </a:r>
          </a:p>
          <a:p>
            <a:pPr algn="l"/>
            <a:r>
              <a:rPr sz="800" b="0">
                <a:solidFill>
                  <a:srgbClr val="0F2540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5B6B80"/>
                </a:solidFill>
                <a:latin typeface="Segoe UI"/>
              </a:rPr>
              <a:t>This pattern only appears when domains are correlated. Billing risks are flagged the same conservative way: potential irregularities requiring reconciliation review, never proven fraud.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68E3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2540"/>
                </a:solidFill>
                <a:latin typeface="Segoe UI"/>
              </a:rPr>
              <a:t>Deterministic evidence, grounded 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2540"/>
                </a:solidFill>
                <a:latin typeface="Segoe UI"/>
              </a:rPr>
              <a:t>CSV sources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18688" y="2395728"/>
            <a:ext cx="274320" cy="256032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2540"/>
                </a:solidFill>
                <a:latin typeface="Segoe UI"/>
              </a:rPr>
              <a:t>Data quality &amp;
normalization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61888" y="2395728"/>
            <a:ext cx="274320" cy="256032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2540"/>
                </a:solidFill>
                <a:latin typeface="Segoe UI"/>
              </a:rPr>
              <a:t>DuckDB +
Parquet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05088" y="2395728"/>
            <a:ext cx="274320" cy="256032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52560" y="2011680"/>
            <a:ext cx="2377440" cy="1005840"/>
          </a:xfrm>
          <a:prstGeom prst="roundRect">
            <a:avLst/>
          </a:prstGeom>
          <a:solidFill>
            <a:srgbClr val="EEF4FB"/>
          </a:solidFill>
          <a:ln w="19050">
            <a:solidFill>
              <a:srgbClr val="166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488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68E3"/>
                </a:solidFill>
                <a:latin typeface="Segoe UI"/>
              </a:rPr>
              <a:t>Deterministic
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83280"/>
            <a:ext cx="2377440" cy="1005840"/>
          </a:xfrm>
          <a:prstGeom prst="roundRect">
            <a:avLst/>
          </a:prstGeom>
          <a:solidFill>
            <a:srgbClr val="EEF4FB"/>
          </a:solidFill>
          <a:ln w="19050">
            <a:solidFill>
              <a:srgbClr val="166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68E3"/>
                </a:solidFill>
                <a:latin typeface="Segoe UI"/>
              </a:rPr>
              <a:t>Cross-domain
anomaly engine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18688" y="3767328"/>
            <a:ext cx="274320" cy="256032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338328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2540"/>
                </a:solidFill>
                <a:latin typeface="Segoe UI"/>
              </a:rPr>
              <a:t>LangGraph
orchestrator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61888" y="3767328"/>
            <a:ext cx="274320" cy="256032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338328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2540"/>
                </a:solidFill>
                <a:latin typeface="Segoe UI"/>
              </a:rPr>
              <a:t>LLM synthesis
(grounded)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05088" y="3767328"/>
            <a:ext cx="274320" cy="256032"/>
          </a:xfrm>
          <a:prstGeom prst="rightArrow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52560" y="338328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2540"/>
                </a:solidFill>
                <a:latin typeface="Segoe UI"/>
              </a:rPr>
              <a:t>FastAPI +
React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74920"/>
            <a:ext cx="10515600" cy="8686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1389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92400E"/>
                </a:solidFill>
                <a:latin typeface="Segoe UI"/>
              </a:rPr>
              <a:t>⚠  The LLM never calculates operational metrics — it only explains supplied evidence. Raw trip data never reaches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68E3"/>
                </a:solidFill>
                <a:latin typeface="Segoe UI"/>
              </a:rPr>
              <a:t>AGENTIC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2540"/>
                </a:solidFill>
                <a:latin typeface="Segoe UI"/>
              </a:rPr>
              <a:t>The agent decides what to investigate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737360"/>
            <a:ext cx="5577840" cy="512064"/>
          </a:xfrm>
          <a:prstGeom prst="round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Detected anomaly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43600" y="2258568"/>
            <a:ext cx="274320" cy="256032"/>
          </a:xfrm>
          <a:prstGeom prst="downArrow">
            <a:avLst/>
          </a:prstGeom>
          <a:solidFill>
            <a:srgbClr val="166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2359152"/>
            <a:ext cx="55778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Agent chooses tools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880360"/>
            <a:ext cx="274320" cy="256032"/>
          </a:xfrm>
          <a:prstGeom prst="downArrow">
            <a:avLst/>
          </a:prstGeom>
          <a:solidFill>
            <a:srgbClr val="166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2980944"/>
            <a:ext cx="55778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Vendor analytics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3502151"/>
            <a:ext cx="274320" cy="256032"/>
          </a:xfrm>
          <a:prstGeom prst="downArrow">
            <a:avLst/>
          </a:prstGeom>
          <a:solidFill>
            <a:srgbClr val="166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602736"/>
            <a:ext cx="55778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Safety analytics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4123944"/>
            <a:ext cx="274320" cy="256032"/>
          </a:xfrm>
          <a:prstGeom prst="downArrow">
            <a:avLst/>
          </a:prstGeom>
          <a:solidFill>
            <a:srgbClr val="166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4224528"/>
            <a:ext cx="55778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Delay context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4745736"/>
            <a:ext cx="274320" cy="256032"/>
          </a:xfrm>
          <a:prstGeom prst="downArrow">
            <a:avLst/>
          </a:prstGeom>
          <a:solidFill>
            <a:srgbClr val="166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4846320"/>
            <a:ext cx="55778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Segoe UI"/>
              </a:rPr>
              <a:t>Data quality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43600" y="5367528"/>
            <a:ext cx="274320" cy="256032"/>
          </a:xfrm>
          <a:prstGeom prst="downArrow">
            <a:avLst/>
          </a:prstGeom>
          <a:solidFill>
            <a:srgbClr val="166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5468112"/>
            <a:ext cx="5577840" cy="512064"/>
          </a:xfrm>
          <a:prstGeom prst="round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Grounded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B80"/>
                </a:solidFill>
                <a:latin typeface="Segoe UI"/>
              </a:rPr>
              <a:t>Every finding traces back to deterministic evidence — validated before it reaches the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68E3"/>
                </a:solidFill>
                <a:latin typeface="Segoe UI"/>
              </a:rP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2540"/>
                </a:solidFill>
                <a:latin typeface="Segoe UI"/>
              </a:rPr>
              <a:t>One workspace, from signal to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540"/>
                </a:solidFill>
                <a:latin typeface="Segoe U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[ drop docs/screenshots/ image here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540"/>
                </a:solidFill>
                <a:latin typeface="Segoe UI"/>
              </a:rPr>
              <a:t>Investigation drawer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[ drop docs/screenshots/ image here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540"/>
                </a:solidFill>
                <a:latin typeface="Segoe UI"/>
              </a:rPr>
              <a:t>Ask 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[ drop docs/screenshots/ image here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540"/>
                </a:solidFill>
                <a:latin typeface="Segoe UI"/>
              </a:rPr>
              <a:t>Executive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Segoe UI"/>
              </a:rPr>
              <a:t>[ drop docs/screenshots/ image here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68E3"/>
                </a:solidFill>
                <a:latin typeface="Segoe UI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2540"/>
                </a:solidFill>
                <a:latin typeface="Segoe UI"/>
              </a:rPr>
              <a:t>Faster, grounded, leadership-ready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291840" cy="109728"/>
          </a:xfrm>
          <a:prstGeom prst="rect">
            <a:avLst/>
          </a:prstGeom>
          <a:solidFill>
            <a:srgbClr val="166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68E3"/>
                </a:solidFill>
                <a:latin typeface="Segoe UI"/>
              </a:rPr>
              <a:t>Transport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834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80"/>
                </a:solidFill>
                <a:latin typeface="Segoe UI"/>
              </a:rPr>
              <a:t>Investigate in minutes, not hours — the evidence is pre-assembled.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103120"/>
            <a:ext cx="3291840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B8A6"/>
                </a:solidFill>
                <a:latin typeface="Segoe UI"/>
              </a:rPr>
              <a:t>Facilities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34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80"/>
                </a:solidFill>
                <a:latin typeface="Segoe UI"/>
              </a:rPr>
              <a:t>Leadership-ready view of cost, safety, reliability and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291840" cy="10972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540"/>
                </a:solidFill>
                <a:latin typeface="Segoe UI"/>
              </a:rPr>
              <a:t>Organization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2834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80"/>
                </a:solidFill>
                <a:latin typeface="Segoe UI"/>
              </a:rPr>
              <a:t>Earlier detection of safety, billing and operational risks.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B80"/>
                </a:solidFill>
                <a:latin typeface="Segoe UI"/>
              </a:rPr>
              <a:t>Grounded in deterministic analytics — impact claims stay qualitative, no invented ROI.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Segoe UI"/>
              </a:rPr>
              <a:t>BUILT FOR ENTERPRISE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Today →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4937760" cy="2926080"/>
          </a:xfrm>
          <a:prstGeom prst="roundRect">
            <a:avLst/>
          </a:prstGeom>
          <a:solidFill>
            <a:srgbClr val="14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480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Hackathon prototype</a:t>
            </a:r>
          </a:p>
          <a:p>
            <a:pPr algn="l"/>
            <a:r>
              <a:rPr sz="1300" b="0">
                <a:solidFill>
                  <a:srgbClr val="B9CDF0"/>
                </a:solidFill>
                <a:latin typeface="Segoe UI"/>
              </a:rPr>
              <a:t>Deterministic analytics + cross-domain engine</a:t>
            </a:r>
          </a:p>
          <a:p>
            <a:pPr algn="l"/>
            <a:r>
              <a:rPr sz="1300" b="0">
                <a:solidFill>
                  <a:srgbClr val="B9CDF0"/>
                </a:solidFill>
                <a:latin typeface="Segoe UI"/>
              </a:rPr>
              <a:t>Embedded DuckDB, single tenant</a:t>
            </a:r>
          </a:p>
          <a:p>
            <a:pPr algn="l"/>
            <a:r>
              <a:rPr sz="1300" b="0">
                <a:solidFill>
                  <a:srgbClr val="B9CDF0"/>
                </a:solidFill>
                <a:latin typeface="Segoe UI"/>
              </a:rPr>
              <a:t>Grounded, pluggable LLM narration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4937760" cy="2926080"/>
          </a:xfrm>
          <a:prstGeom prst="roundRect">
            <a:avLst/>
          </a:prstGeom>
          <a:solidFill>
            <a:srgbClr val="14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Tomorrow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480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Multi-tenant · real-time signals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Durable, governed action workflows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Audit trail · RBAC · model gateway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AWS data-lake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B8A6"/>
                </a:solidFill>
                <a:latin typeface="Segoe UI"/>
              </a:rPr>
              <a:t>"MoveInSync Pulse turns mobility data into decisions."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